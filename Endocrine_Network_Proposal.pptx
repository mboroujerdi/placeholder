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2926080" cy="2926080"/>
          </a:xfrm>
          <a:prstGeom prst="ellipse">
            <a:avLst/>
          </a:prstGeom>
          <a:solidFill>
            <a:srgbClr val="0A7E8C">
              <a:alpha val="20000"/>
            </a:srgbClr>
          </a:solidFill>
          <a:ln w="12700">
            <a:solidFill>
              <a:srgbClr val="0A7E8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3474720"/>
            <a:ext cx="1645920" cy="1645920"/>
          </a:xfrm>
          <a:prstGeom prst="ellipse">
            <a:avLst/>
          </a:prstGeom>
          <a:solidFill>
            <a:srgbClr val="D4AF37">
              <a:alpha val="25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BB5BE"/>
                </a:solidFill>
              </a:rPr>
              <a:t>FRONTIERS IN ENDOCRINOLOGY  |  RESEARCH TOPIC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7772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Control-Theoretic Approaches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Endocrine Network Dynamics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7472" y="2578608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BA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Molecular Clearance to Physiological Regulation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3200400"/>
            <a:ext cx="5943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3375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Massoud Boroujerdi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" y="3657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5BE"/>
                </a:solidFill>
              </a:rPr>
              <a:t>London, England  |  February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438912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0A7E8C">
              <a:alpha val="80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44165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B"/>
                </a:solidFill>
              </a:rPr>
              <a:t>Systems Endocrinology Section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B5BE"/>
                </a:solidFill>
              </a:rPr>
              <a:t>MOTIVATION &amp; RATIONALE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Quantitative Gap in Endocrinology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45920"/>
            <a:ext cx="2651760" cy="91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874520"/>
            <a:ext cx="731520" cy="731520"/>
          </a:xfrm>
          <a:prstGeom prst="ellipse">
            <a:avLst/>
          </a:prstGeom>
          <a:solidFill>
            <a:srgbClr val="E8F4F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7592" y="1920240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9768" y="2743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3145536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Ultradian &amp; circadian rhythms are essential yet poorly characterised mathematically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6459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645920"/>
            <a:ext cx="2651760" cy="91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0" y="1874520"/>
            <a:ext cx="731520" cy="731520"/>
          </a:xfrm>
          <a:prstGeom prst="ellipse">
            <a:avLst/>
          </a:prstGeom>
          <a:solidFill>
            <a:srgbClr val="E8F4F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42232" y="1920240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64408" y="2743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&amp; Dynamics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64408" y="3145536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Transient hormonal responses involve multi-scale time constants spanning minutes to 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16459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645920"/>
            <a:ext cx="2651760" cy="914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874520"/>
            <a:ext cx="731520" cy="731520"/>
          </a:xfrm>
          <a:prstGeom prst="ellipse">
            <a:avLst/>
          </a:prstGeom>
          <a:solidFill>
            <a:srgbClr val="E8F4F5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920240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99048" y="2743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Link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99048" y="3145536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Molecular clearance rates (MCR) are measured, but rarely connected to system-level dynamics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553712"/>
            <a:ext cx="8503920" cy="402336"/>
          </a:xfrm>
          <a:prstGeom prst="rect">
            <a:avLst/>
          </a:prstGeom>
          <a:solidFill>
            <a:srgbClr val="0A7E8C">
              <a:alpha val="85000"/>
            </a:srgbClr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D1B2A"/>
                </a:solidFill>
              </a:rPr>
              <a:t>→  Control theory offers a rigorous, quantitative bridge between molecular kinetics and physiological regulation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B5BE"/>
                </a:solidFill>
              </a:rPr>
              <a:t>MATHEMATICAL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Second-Order Negative Feedback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114800" cy="3566160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AB4"/>
                </a:solidFill>
              </a:rPr>
              <a:t>Core ODE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dS/dt  =  Ra  −  k₃·C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dC/dt  =  k₄·S  −  k₂·C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8712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B5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steady state: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2186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MCR  =  k₃k₄/k₂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Natural frequency:  ωₙ = √(k₃k₄)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2611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Damping ratio:       ζ  = k₂/(2ωₙ)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114800" cy="1645920"/>
          </a:xfrm>
          <a:prstGeom prst="rect">
            <a:avLst/>
          </a:prstGeom>
          <a:solidFill>
            <a:srgbClr val="122838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G-Type (Feed-Forward)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Gᵢ(s) = k₃ᵢ(s + k₂ᵢ) / [s(s+k₂ᵢ) + k₃ᵢk₄ᵢ]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5BE"/>
                </a:solidFill>
              </a:rPr>
              <a:t>Phase-lead compensation → faster response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487168"/>
            <a:ext cx="411480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578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AB4"/>
                </a:solidFill>
              </a:rPr>
              <a:t>H-Type (Feedback / Pure Lag)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Hᵢ(s) = k₂ᵢk₄ᵢ / [s(s+k₂ᵢ) + k₃ᵢk₄ᵢ]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B5BE"/>
                </a:solidFill>
              </a:rPr>
              <a:t>No zeros → enhanced damping, noise rejection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971800"/>
            <a:ext cx="4114800" cy="1828800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090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AB4"/>
                </a:solidFill>
              </a:rPr>
              <a:t>Network Transfer Function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G_network(s) = ∏ Tᵢ(s)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840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5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Closed-loop:  G_cl = G_fwd / (1 + G_fwd·G_fb)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42245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F37"/>
                </a:solidFill>
              </a:rPr>
              <a:t>MCR directly maps to ωₙ — linking kinetics to dynamics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B5BE"/>
                </a:solidFill>
              </a:rPr>
              <a:t>PARAMETER DATABASE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Hormone &amp; Substrate Parameters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B5BE"/>
                </a:solidFill>
              </a:rPr>
              <a:t>MCR values from published literature; ωₙ assigned as first approximation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91640"/>
          <a:ext cx="8595360" cy="324612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1097280"/>
                <a:gridCol w="1371600"/>
                <a:gridCol w="731520"/>
                <a:gridCol w="914400"/>
              </a:tblGrid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Hormone / Substrate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MCR (h⁻¹)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Half-life (min)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ζ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Glucose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Substrate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4.00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10.4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B7C"/>
                          </a:solidFill>
                        </a:rPr>
                        <a:t>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Insulin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8.32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5.0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B7C"/>
                          </a:solidFill>
                        </a:rPr>
                        <a:t>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Cortisol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0.462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90.0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4A00"/>
                          </a:solidFill>
                        </a:rPr>
                        <a:t>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ACTH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4.16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10.0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B7C"/>
                          </a:solidFill>
                        </a:rPr>
                        <a:t>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Growth 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2.08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20.0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4A00"/>
                          </a:solidFill>
                        </a:rPr>
                        <a:t>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T4 (Thyroxine)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0.0042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10080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4A00"/>
                          </a:solidFill>
                        </a:rPr>
                        <a:t>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T3 (Triiodothyronine)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0.029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1440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4A00"/>
                          </a:solidFill>
                        </a:rPr>
                        <a:t>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TSH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0.694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60.0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4A00"/>
                          </a:solidFill>
                        </a:rPr>
                        <a:t>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Glucagon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5.20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8.0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B7C"/>
                          </a:solidFill>
                        </a:rPr>
                        <a:t>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Epinephrine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20.8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2.0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B7C"/>
                          </a:solidFill>
                        </a:rPr>
                        <a:t>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Leptin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0.083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500.0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8B4A00"/>
                          </a:solidFill>
                        </a:rPr>
                        <a:t>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9"/>
                    </a:solidFill>
                  </a:tcPr>
                </a:tc>
              </a:tr>
              <a:tr h="2497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Angiotensin II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Hormone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41.6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1.0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8"/>
                          </a:solidFill>
                        </a:rPr>
                        <a:t>0.5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6B7C"/>
                          </a:solidFill>
                        </a:rPr>
                        <a:t>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9560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B5BE"/>
                </a:solidFill>
              </a:rPr>
              <a:t>36 hormones &amp; substrates catalogued  |  Full dataset in supplementary R scripts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B5BE"/>
                </a:solidFill>
              </a:rPr>
              <a:t>FREQUENCY-DOMAIN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Bode Plots to Biological Insight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2743200" cy="1572768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98448"/>
            <a:ext cx="2743200" cy="82296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1435608"/>
            <a:ext cx="731520" cy="731520"/>
          </a:xfrm>
          <a:prstGeom prst="ellipse">
            <a:avLst/>
          </a:prstGeom>
          <a:solidFill>
            <a:srgbClr val="0A2A3A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7592" y="1463040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AB4"/>
                </a:solidFill>
              </a:rPr>
              <a:t>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</a:rPr>
              <a:t>DC Gain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B5BE"/>
                </a:solidFill>
              </a:rPr>
              <a:t>Steady-state hormone level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298448"/>
            <a:ext cx="2743200" cy="1572768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98448"/>
            <a:ext cx="2743200" cy="82296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1435608"/>
            <a:ext cx="731520" cy="731520"/>
          </a:xfrm>
          <a:prstGeom prst="ellipse">
            <a:avLst/>
          </a:prstGeom>
          <a:solidFill>
            <a:srgbClr val="0A2A3A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1463040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AB4"/>
                </a:solidFill>
              </a:rPr>
              <a:t>✂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46120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</a:rPr>
              <a:t>Cutoff Frequency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B5BE"/>
                </a:solidFill>
              </a:rPr>
              <a:t>Characteristic response time  τ ≈ 2π/ωc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298448"/>
            <a:ext cx="2743200" cy="1572768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298448"/>
            <a:ext cx="2743200" cy="82296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1435608"/>
            <a:ext cx="731520" cy="731520"/>
          </a:xfrm>
          <a:prstGeom prst="ellipse">
            <a:avLst/>
          </a:prstGeom>
          <a:solidFill>
            <a:srgbClr val="0A2A3A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68312" y="1463040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AB4"/>
                </a:solidFill>
              </a:rPr>
              <a:t>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26480" y="22402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</a:rPr>
              <a:t>Bandwidth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26480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B5BE"/>
                </a:solidFill>
              </a:rPr>
              <a:t>Ability to track time-varying signals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2743200" cy="1572768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17520"/>
            <a:ext cx="2743200" cy="82296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80160" y="3154680"/>
            <a:ext cx="731520" cy="731520"/>
          </a:xfrm>
          <a:prstGeom prst="ellipse">
            <a:avLst/>
          </a:prstGeom>
          <a:solidFill>
            <a:srgbClr val="0A2A3A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07592" y="3182112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AB4"/>
                </a:solidFill>
              </a:rPr>
              <a:t>~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5760" y="39593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</a:rPr>
              <a:t>HF Attenuation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279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B5BE"/>
                </a:solidFill>
              </a:rPr>
              <a:t>Noise rejection capability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154680" y="3017520"/>
            <a:ext cx="2743200" cy="1572768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3017520"/>
            <a:ext cx="2743200" cy="82296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520" y="3154680"/>
            <a:ext cx="731520" cy="731520"/>
          </a:xfrm>
          <a:prstGeom prst="ellipse">
            <a:avLst/>
          </a:prstGeom>
          <a:solidFill>
            <a:srgbClr val="0A2A3A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7952" y="3182112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AB4"/>
                </a:solidFill>
              </a:rPr>
              <a:t>⚖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246120" y="39593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</a:rPr>
              <a:t>Phase Margin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46120" y="4279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B5BE"/>
                </a:solidFill>
              </a:rPr>
              <a:t>Stability reserve of the axis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35040" y="3017520"/>
            <a:ext cx="2743200" cy="1572768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3017520"/>
            <a:ext cx="2743200" cy="82296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40880" y="3154680"/>
            <a:ext cx="731520" cy="731520"/>
          </a:xfrm>
          <a:prstGeom prst="ellipse">
            <a:avLst/>
          </a:prstGeom>
          <a:solidFill>
            <a:srgbClr val="0A2A3A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68312" y="3182112"/>
            <a:ext cx="676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BAB4"/>
                </a:solidFill>
              </a:rPr>
              <a:t>△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26480" y="39593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4AF37"/>
                </a:solidFill>
              </a:rPr>
              <a:t>Gain Margin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26480" y="4279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B5BE"/>
                </a:solidFill>
              </a:rPr>
              <a:t>Safety margin before oscillation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B5BE"/>
                </a:solidFill>
              </a:rPr>
              <a:t>RESEARCH TOPIC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Endocrine Axes Covered by the Framework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109728" cy="14630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618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 Axis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1305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Cortisol / ACTH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Circadian rhythm &amp; stress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5087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508760"/>
            <a:ext cx="109728" cy="1463040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618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HPT Axis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21305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TSH / T4 / T3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Tight feedback; 7-day T4 half-life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508760"/>
            <a:ext cx="109728" cy="14630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6184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HPG Axis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LH / FSH / Testosterone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Pulsatile dynamics; cycle regulation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36392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36392"/>
            <a:ext cx="109728" cy="1463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Glucose–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Insulin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" y="375818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Insulin, Glucagon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Ultradian ~90 min oscillations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3136392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3136392"/>
            <a:ext cx="109728" cy="14630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 Axis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55848" y="375818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Growth Hormone / IGF-1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Pulsatile; sleep-dependent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3136392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136392"/>
            <a:ext cx="109728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246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RAAS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36208" y="3758184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Renin / Ang II / Aldosterone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66"/>
                </a:solidFill>
              </a:rPr>
              <a:t>Rapid vasoregulation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B5BE"/>
                </a:solidFill>
              </a:rPr>
              <a:t>COLLECTION STRUCTURE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Article Types &amp; Editorial Process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4572000" cy="804672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82296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350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Original Research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645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5BE"/>
                </a:solidFill>
              </a:rPr>
              <a:t>Specific axis models, clinical validation, OGTT / HPA / thyroid datasets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203704"/>
            <a:ext cx="4572000" cy="804672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03704"/>
            <a:ext cx="82296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2585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Methods Papers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5694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5BE"/>
                </a:solidFill>
              </a:rPr>
              <a:t>Computational tools, R packages, analytical control-theory frameworks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27248"/>
            <a:ext cx="4572000" cy="804672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27248"/>
            <a:ext cx="82296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182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Review Articles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349300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5BE"/>
                </a:solidFill>
              </a:rPr>
              <a:t>Control theory in endocrinology, oscillatory phenomena, MCR kinetics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050792"/>
            <a:ext cx="4572000" cy="804672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050792"/>
            <a:ext cx="82296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1056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</a:rPr>
              <a:t>Perspectives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44165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5BE"/>
                </a:solidFill>
              </a:rPr>
              <a:t>Design principles, therapeutic dosing optimisation, future directions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335024"/>
            <a:ext cx="658368" cy="65836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3350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</a:rPr>
              <a:t>01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89320" y="134416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B"/>
                </a:solidFill>
              </a:rPr>
              <a:t>Set-up Phase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1682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2 co-editors  •  300-500 word scope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50-60 author list compiled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22976" y="2002536"/>
            <a:ext cx="0" cy="228600"/>
          </a:xfrm>
          <a:prstGeom prst="line">
            <a:avLst/>
          </a:prstGeom>
          <a:noFill/>
          <a:ln w="12700">
            <a:solidFill>
              <a:srgbClr val="8BB5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2258568"/>
            <a:ext cx="658368" cy="65836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2585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</a:rPr>
              <a:t>02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89320" y="22677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B"/>
                </a:solidFill>
              </a:rPr>
              <a:t>Launch Online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89320" y="2606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Call for papers  •  6–10 months open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Social media promotion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22976" y="2926080"/>
            <a:ext cx="0" cy="228600"/>
          </a:xfrm>
          <a:prstGeom prst="line">
            <a:avLst/>
          </a:prstGeom>
          <a:noFill/>
          <a:ln w="12700">
            <a:solidFill>
              <a:srgbClr val="8BB5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3182112"/>
            <a:ext cx="658368" cy="65836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1821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</a:rPr>
              <a:t>03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89320" y="31912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B"/>
                </a:solidFill>
              </a:rPr>
              <a:t>Peer Review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89320" y="35295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Handling editors evaluate manuscripts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Minimum 4 accepted papers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22976" y="3849624"/>
            <a:ext cx="0" cy="228600"/>
          </a:xfrm>
          <a:prstGeom prst="line">
            <a:avLst/>
          </a:prstGeom>
          <a:noFill/>
          <a:ln w="12700">
            <a:solidFill>
              <a:srgbClr val="8BB5B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12080" y="4105656"/>
            <a:ext cx="658368" cy="65836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41056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8FB"/>
                </a:solidFill>
              </a:rPr>
              <a:t>04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989320" y="41148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B"/>
                </a:solidFill>
              </a:rPr>
              <a:t>Publication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89320" y="445312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Editorial summary article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B5BE"/>
                </a:solidFill>
              </a:rPr>
              <a:t>Free eBook if 10+ papers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BB5BE"/>
                </a:solidFill>
              </a:rPr>
              <a:t>VALIDATION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Validation of Theoretical Predictions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10972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Glucose–Insulin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A7E8C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Oral Glucose Tolerance Test (OGTT)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871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A7E8C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Ultradian oscillation period: ~90 min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52958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0A7E8C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Insulin clearance half-life: ~5 min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508760"/>
            <a:ext cx="2743200" cy="10972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 Axis (Cortisol)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2128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4AF37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Cortisol circadian rhythm (24h)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2871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4AF37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Response to ACTH stimulation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91840" y="352958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4AF37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Dexamethasone suppression dynamics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150876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08760"/>
            <a:ext cx="2743200" cy="109728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916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Thyroid Axis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21284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DBAB4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TSH response to TRH stimulation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28712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DBAB4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T4 half-life: 7 days; T3: 1 day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352958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DBAB4"/>
                </a:solidFill>
              </a:rPr>
              <a:t>▸  </a:t>
            </a:r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34455"/>
                </a:solidFill>
              </a:rPr>
              <a:t>Levothyroxine dose–response curves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542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8FB"/>
                </a:solidFill>
              </a:rPr>
              <a:t>Sensitivity Analysis:  One-At-A-Time  ·  Monte Carlo Sampling  ·  Sobol Variance-Based Indices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B5BE"/>
                </a:solidFill>
              </a:rPr>
              <a:t>CLINICAL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Theory to Therapeutic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4114800" cy="1691640"/>
          </a:xfrm>
          <a:prstGeom prst="rect">
            <a:avLst/>
          </a:prstGeom>
          <a:solidFill>
            <a:srgbClr val="122838"/>
          </a:solidFill>
          <a:ln w="12700">
            <a:solidFill>
              <a:srgbClr val="0A7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98448"/>
            <a:ext cx="91440" cy="1691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7E8C"/>
                </a:solidFill>
              </a:rPr>
              <a:t>Dosing Optimisation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B5BE"/>
                </a:solidFill>
              </a:rPr>
              <a:t>Control-theory frequency response reveals optimal dosing intervals matched to hormonal MCR — directly applicable to thyroid hormone replacement, insulin therapy, and steroid regimens.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4114800" cy="1691640"/>
          </a:xfrm>
          <a:prstGeom prst="rect">
            <a:avLst/>
          </a:prstGeom>
          <a:solidFill>
            <a:srgbClr val="122838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298448"/>
            <a:ext cx="91440" cy="1691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3898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Timing Effects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77393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B5BE"/>
                </a:solidFill>
              </a:rPr>
              <a:t>Chronobiological predictions: when system bandwidth is mismatched to circadian drive frequencies, resonance or suppression occurs. Predicts optimal timing windows for drug delivery.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127248"/>
            <a:ext cx="4114800" cy="1691640"/>
          </a:xfrm>
          <a:prstGeom prst="rect">
            <a:avLst/>
          </a:prstGeom>
          <a:solidFill>
            <a:srgbClr val="122838"/>
          </a:solidFill>
          <a:ln w="12700">
            <a:solidFill>
              <a:srgbClr val="1DBAB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27248"/>
            <a:ext cx="91440" cy="1691640"/>
          </a:xfrm>
          <a:prstGeom prst="rect">
            <a:avLst/>
          </a:prstGeom>
          <a:solidFill>
            <a:srgbClr val="1DBAB4"/>
          </a:solidFill>
          <a:ln w="12700">
            <a:solidFill>
              <a:srgbClr val="1DBA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18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BAB4"/>
                </a:solidFill>
              </a:rPr>
              <a:t>Oscillation Prediction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60273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B5BE"/>
                </a:solidFill>
              </a:rPr>
              <a:t>Ultradian rhythms (insulin ~90 min, GH pulsatile) emerge from underdamped (ζ &lt; 1) second-order systems. Framework predicts whether a given axis will oscillate and at what period.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127248"/>
            <a:ext cx="4114800" cy="1691640"/>
          </a:xfrm>
          <a:prstGeom prst="rect">
            <a:avLst/>
          </a:prstGeom>
          <a:solidFill>
            <a:srgbClr val="122838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3127248"/>
            <a:ext cx="91440" cy="1691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218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</a:rPr>
              <a:t>Stability Analysis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602736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B5BE"/>
                </a:solidFill>
              </a:rPr>
              <a:t>Nyquist and Routh–Hurwitz criteria determine whether an endocrine feedback loop is stable. Clinical relevance: predicts pathological oscillations (e.g., adrenal hyperfunction).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A7E8C">
              <a:alpha val="18000"/>
            </a:srgbClr>
          </a:solidFill>
          <a:ln w="12700">
            <a:solidFill>
              <a:srgbClr val="0A7E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D4AF37">
              <a:alpha val="12000"/>
            </a:srgbClr>
          </a:solidFill>
          <a:ln w="12700">
            <a:solidFill>
              <a:srgbClr val="D4AF3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BB5BE"/>
                </a:solidFill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Novel Quantitative Framework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4F8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Endocrine Science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38912" y="210312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B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Control theory provides rigorous, quantitative tools for endocrine network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265176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B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MCR directly maps to ωₙ — a novel bridge from kinetics to dynamics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320040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B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321868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G-type &amp; H-type transfer functions capture distinct regulatory architectures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74904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B"/>
                </a:solidFill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60120" y="37673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Framework predicts oscillations, stability, and response times across 36 hormones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4297680"/>
            <a:ext cx="384048" cy="384048"/>
          </a:xfrm>
          <a:prstGeom prst="ellipse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8FB"/>
                </a:solidFill>
              </a:rPr>
              <a:t>05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60120" y="43159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B"/>
                </a:solidFill>
              </a:rPr>
              <a:t>Clinical applications span dosing, timing, and therapeutic strategy design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700016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4F8FB"/>
                </a:solidFill>
              </a:rPr>
              <a:t>Dr. Massoud Boroujerdi   |   massoud.boroujerdi@gmail.com   |   London, England   |   February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Control-Theoretic Approaches to Endocrine Network Dynamics</dc:title>
  <dc:subject>PptxGenJS Presentation</dc:subject>
  <dc:creator>Dr. Massoud Boroujerdi</dc:creator>
  <cp:lastModifiedBy>Dr. Massoud Boroujerdi</cp:lastModifiedBy>
  <cp:revision>1</cp:revision>
  <dcterms:created xsi:type="dcterms:W3CDTF">2026-02-17T15:12:14Z</dcterms:created>
  <dcterms:modified xsi:type="dcterms:W3CDTF">2026-02-17T15:12:14Z</dcterms:modified>
</cp:coreProperties>
</file>